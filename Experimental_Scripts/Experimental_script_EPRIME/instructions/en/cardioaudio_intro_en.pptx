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8" r:id="rId3"/>
  </p:sldIdLst>
  <p:sldSz cx="5853113" cy="32908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 userDrawn="1">
          <p15:clr>
            <a:srgbClr val="A4A3A4"/>
          </p15:clr>
        </p15:guide>
        <p15:guide id="2" pos="36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4C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4"/>
    <p:restoredTop sz="94677"/>
  </p:normalViewPr>
  <p:slideViewPr>
    <p:cSldViewPr snapToGrid="0" snapToObjects="1">
      <p:cViewPr varScale="1">
        <p:scale>
          <a:sx n="225" d="100"/>
          <a:sy n="225" d="100"/>
        </p:scale>
        <p:origin x="168" y="222"/>
      </p:cViewPr>
      <p:guideLst>
        <p:guide orient="horz" pos="2073"/>
        <p:guide pos="368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639" y="538578"/>
            <a:ext cx="4389835" cy="1145717"/>
          </a:xfrm>
        </p:spPr>
        <p:txBody>
          <a:bodyPr anchor="b"/>
          <a:lstStyle>
            <a:lvl1pPr algn="ctr"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639" y="1728478"/>
            <a:ext cx="4389835" cy="794536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410" indent="0" algn="ctr">
              <a:buNone/>
              <a:defRPr sz="960"/>
            </a:lvl2pPr>
            <a:lvl3pPr marL="438821" indent="0" algn="ctr">
              <a:buNone/>
              <a:defRPr sz="864"/>
            </a:lvl3pPr>
            <a:lvl4pPr marL="658231" indent="0" algn="ctr">
              <a:buNone/>
              <a:defRPr sz="768"/>
            </a:lvl4pPr>
            <a:lvl5pPr marL="877641" indent="0" algn="ctr">
              <a:buNone/>
              <a:defRPr sz="768"/>
            </a:lvl5pPr>
            <a:lvl6pPr marL="1097051" indent="0" algn="ctr">
              <a:buNone/>
              <a:defRPr sz="768"/>
            </a:lvl6pPr>
            <a:lvl7pPr marL="1316462" indent="0" algn="ctr">
              <a:buNone/>
              <a:defRPr sz="768"/>
            </a:lvl7pPr>
            <a:lvl8pPr marL="1535872" indent="0" algn="ctr">
              <a:buNone/>
              <a:defRPr sz="768"/>
            </a:lvl8pPr>
            <a:lvl9pPr marL="1755282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55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535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353" y="820437"/>
            <a:ext cx="5048310" cy="1368918"/>
          </a:xfrm>
        </p:spPr>
        <p:txBody>
          <a:bodyPr anchor="b"/>
          <a:lstStyle>
            <a:lvl1pPr>
              <a:defRPr sz="28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9353" y="2202305"/>
            <a:ext cx="5048310" cy="719882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41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8821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23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764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051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646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587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528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3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2402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63138" y="876047"/>
            <a:ext cx="2487573" cy="208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31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175210"/>
            <a:ext cx="5048310" cy="63608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164" y="806725"/>
            <a:ext cx="2476141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164" y="1202088"/>
            <a:ext cx="2476141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3139" y="806725"/>
            <a:ext cx="2488335" cy="395363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410" indent="0">
              <a:buNone/>
              <a:defRPr sz="960" b="1"/>
            </a:lvl2pPr>
            <a:lvl3pPr marL="438821" indent="0">
              <a:buNone/>
              <a:defRPr sz="864" b="1"/>
            </a:lvl3pPr>
            <a:lvl4pPr marL="658231" indent="0">
              <a:buNone/>
              <a:defRPr sz="768" b="1"/>
            </a:lvl4pPr>
            <a:lvl5pPr marL="877641" indent="0">
              <a:buNone/>
              <a:defRPr sz="768" b="1"/>
            </a:lvl5pPr>
            <a:lvl6pPr marL="1097051" indent="0">
              <a:buNone/>
              <a:defRPr sz="768" b="1"/>
            </a:lvl6pPr>
            <a:lvl7pPr marL="1316462" indent="0">
              <a:buNone/>
              <a:defRPr sz="768" b="1"/>
            </a:lvl7pPr>
            <a:lvl8pPr marL="1535872" indent="0">
              <a:buNone/>
              <a:defRPr sz="768" b="1"/>
            </a:lvl8pPr>
            <a:lvl9pPr marL="1755282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63139" y="1202088"/>
            <a:ext cx="2488335" cy="1768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86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305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8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8336" y="473827"/>
            <a:ext cx="2963138" cy="2338663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6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164" y="219392"/>
            <a:ext cx="1887781" cy="76787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88336" y="473827"/>
            <a:ext cx="2963138" cy="2338663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410" indent="0">
              <a:buNone/>
              <a:defRPr sz="1344"/>
            </a:lvl2pPr>
            <a:lvl3pPr marL="438821" indent="0">
              <a:buNone/>
              <a:defRPr sz="1152"/>
            </a:lvl3pPr>
            <a:lvl4pPr marL="658231" indent="0">
              <a:buNone/>
              <a:defRPr sz="960"/>
            </a:lvl4pPr>
            <a:lvl5pPr marL="877641" indent="0">
              <a:buNone/>
              <a:defRPr sz="960"/>
            </a:lvl5pPr>
            <a:lvl6pPr marL="1097051" indent="0">
              <a:buNone/>
              <a:defRPr sz="960"/>
            </a:lvl6pPr>
            <a:lvl7pPr marL="1316462" indent="0">
              <a:buNone/>
              <a:defRPr sz="960"/>
            </a:lvl7pPr>
            <a:lvl8pPr marL="1535872" indent="0">
              <a:buNone/>
              <a:defRPr sz="960"/>
            </a:lvl8pPr>
            <a:lvl9pPr marL="1755282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3164" y="987266"/>
            <a:ext cx="1887781" cy="1829033"/>
          </a:xfrm>
        </p:spPr>
        <p:txBody>
          <a:bodyPr/>
          <a:lstStyle>
            <a:lvl1pPr marL="0" indent="0">
              <a:buNone/>
              <a:defRPr sz="768"/>
            </a:lvl1pPr>
            <a:lvl2pPr marL="219410" indent="0">
              <a:buNone/>
              <a:defRPr sz="672"/>
            </a:lvl2pPr>
            <a:lvl3pPr marL="438821" indent="0">
              <a:buNone/>
              <a:defRPr sz="576"/>
            </a:lvl3pPr>
            <a:lvl4pPr marL="658231" indent="0">
              <a:buNone/>
              <a:defRPr sz="480"/>
            </a:lvl4pPr>
            <a:lvl5pPr marL="877641" indent="0">
              <a:buNone/>
              <a:defRPr sz="480"/>
            </a:lvl5pPr>
            <a:lvl6pPr marL="1097051" indent="0">
              <a:buNone/>
              <a:defRPr sz="480"/>
            </a:lvl6pPr>
            <a:lvl7pPr marL="1316462" indent="0">
              <a:buNone/>
              <a:defRPr sz="480"/>
            </a:lvl7pPr>
            <a:lvl8pPr marL="1535872" indent="0">
              <a:buNone/>
              <a:defRPr sz="480"/>
            </a:lvl8pPr>
            <a:lvl9pPr marL="1755282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06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3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88634" y="175210"/>
            <a:ext cx="1262077" cy="27888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2401" y="175210"/>
            <a:ext cx="3713069" cy="2788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4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2402" y="175210"/>
            <a:ext cx="5048310" cy="636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402" y="876047"/>
            <a:ext cx="5048310" cy="2088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2402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6E4E-9A4C-584C-B041-ED1EA68C6A4F}" type="datetimeFigureOut">
              <a:rPr lang="en-US" smtClean="0"/>
              <a:t>8/10/2023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8844" y="3050166"/>
            <a:ext cx="1975426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33761" y="3050166"/>
            <a:ext cx="1316950" cy="175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7DD6F-C93A-6745-AFE0-E5CD39CD12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3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821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05" indent="-109705" algn="l" defTabSz="438821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115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52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793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346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675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16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557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4987" indent="-109705" algn="l" defTabSz="438821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410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882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23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764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051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646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587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5282" algn="l" defTabSz="438821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3" y="998773"/>
            <a:ext cx="5850467" cy="57937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During the next experiment you will hear sound sequences, </a:t>
            </a: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to which you should simply listen passively.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You don't have to do anything, think of anything specific, </a:t>
            </a: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but simply follow the sounds.</a:t>
            </a: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 fixate on the cross on the screen in front of you and </a:t>
            </a:r>
          </a:p>
          <a:p>
            <a:r>
              <a:rPr lang="en-US" b="1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move as little as possible </a:t>
            </a: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(this includes blinking and muscle tension).</a:t>
            </a:r>
          </a:p>
          <a:p>
            <a:endParaRPr lang="en-US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1323" y="467851"/>
            <a:ext cx="5850467" cy="579375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12" b="1" dirty="0">
                <a:solidFill>
                  <a:srgbClr val="CA4C40"/>
                </a:solidFill>
                <a:latin typeface="D-DIN" charset="0"/>
                <a:ea typeface="D-DIN" charset="0"/>
                <a:cs typeface="D-DIN" charset="0"/>
              </a:rPr>
              <a:t>“Listen to the Sounds”</a:t>
            </a:r>
          </a:p>
          <a:p>
            <a:endParaRPr lang="de-CH" sz="2112" b="1" dirty="0">
              <a:solidFill>
                <a:srgbClr val="CA4C40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sz="2112" b="1" dirty="0">
              <a:solidFill>
                <a:srgbClr val="CA4C40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3663958" y="3086520"/>
            <a:ext cx="2187831" cy="204368"/>
          </a:xfrm>
          <a:prstGeom prst="rect">
            <a:avLst/>
          </a:prstGeom>
        </p:spPr>
        <p:txBody>
          <a:bodyPr vert="horz" lIns="43879" tIns="21939" rIns="43879" bIns="2193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</a:t>
            </a:r>
            <a:r>
              <a:rPr lang="en-US" sz="768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’ for the next page</a:t>
            </a:r>
          </a:p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9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9350" y="451047"/>
            <a:ext cx="5305680" cy="579113"/>
          </a:xfrm>
        </p:spPr>
        <p:txBody>
          <a:bodyPr>
            <a:noAutofit/>
          </a:bodyPr>
          <a:lstStyle/>
          <a:p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And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please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remember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(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because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of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the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EEG):</a:t>
            </a: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902190" y="3085869"/>
            <a:ext cx="2948277" cy="204275"/>
          </a:xfrm>
          <a:prstGeom prst="rect">
            <a:avLst/>
          </a:prstGeom>
        </p:spPr>
        <p:txBody>
          <a:bodyPr vert="horz" lIns="43859" tIns="21929" rIns="43859" bIns="2192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768" dirty="0"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3663625" y="3085869"/>
            <a:ext cx="2186842" cy="204275"/>
          </a:xfrm>
          <a:prstGeom prst="rect">
            <a:avLst/>
          </a:prstGeom>
        </p:spPr>
        <p:txBody>
          <a:bodyPr vert="horz" lIns="43859" tIns="21929" rIns="43859" bIns="21929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 ‘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  <a:sym typeface="Wingdings" panose="05000000000000000000" pitchFamily="2" charset="2"/>
              </a:rPr>
              <a:t></a:t>
            </a:r>
            <a:r>
              <a:rPr lang="en-US" sz="768" dirty="0">
                <a:solidFill>
                  <a:srgbClr val="FF0000"/>
                </a:solidFill>
                <a:latin typeface="D-DIN" charset="0"/>
                <a:ea typeface="D-DIN" charset="0"/>
                <a:cs typeface="D-DIN" charset="0"/>
              </a:rPr>
              <a:t>’ to start</a:t>
            </a:r>
          </a:p>
        </p:txBody>
      </p:sp>
      <p:pic>
        <p:nvPicPr>
          <p:cNvPr id="1028" name="Picture 4" descr="23.000+ Grafiken, lizenzfreie Vektorgrafiken und Clipart zu Blinzeln -  iStock | Geblendet, Augen zu, Augen zuhalten"/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79" r="21940"/>
          <a:stretch/>
        </p:blipFill>
        <p:spPr bwMode="auto">
          <a:xfrm>
            <a:off x="1393388" y="1091763"/>
            <a:ext cx="568156" cy="1050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nce, people, Silhouette, dancer, Fun, motion, Movement icon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090" y="973724"/>
            <a:ext cx="1286625" cy="12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385212" y="2392572"/>
            <a:ext cx="2584509" cy="579113"/>
          </a:xfrm>
          <a:prstGeom prst="rect">
            <a:avLst/>
          </a:prstGeom>
        </p:spPr>
        <p:txBody>
          <a:bodyPr vert="horz" lIns="91399" tIns="45699" rIns="91399" bIns="45699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Move eyes or blink </a:t>
            </a:r>
            <a:b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en-US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as little as 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3164229" y="2392572"/>
            <a:ext cx="1700344" cy="579113"/>
          </a:xfrm>
          <a:prstGeom prst="rect">
            <a:avLst/>
          </a:prstGeom>
        </p:spPr>
        <p:txBody>
          <a:bodyPr vert="horz" lIns="91399" tIns="45699" rIns="91399" bIns="45699" rtlCol="0">
            <a:noAutofit/>
          </a:bodyPr>
          <a:lstStyle>
            <a:lvl1pPr marL="0" indent="0" algn="ctr" defTabSz="438821" rtl="0" eaLnBrk="1" latinLnBrk="0" hangingPunct="1">
              <a:lnSpc>
                <a:spcPct val="90000"/>
              </a:lnSpc>
              <a:spcBef>
                <a:spcPts val="480"/>
              </a:spcBef>
              <a:buFont typeface="Arial" panose="020B0604020202020204" pitchFamily="34" charset="0"/>
              <a:buNone/>
              <a:defRPr sz="115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9410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9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882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8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823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7764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051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1646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587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55282" indent="0" algn="ctr" defTabSz="438821" rtl="0" eaLnBrk="1" latinLnBrk="0" hangingPunct="1">
              <a:lnSpc>
                <a:spcPct val="90000"/>
              </a:lnSpc>
              <a:spcBef>
                <a:spcPts val="240"/>
              </a:spcBef>
              <a:buFont typeface="Arial" panose="020B0604020202020204" pitchFamily="34" charset="0"/>
              <a:buNone/>
              <a:defRPr sz="76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Move</a:t>
            </a:r>
            <a:b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</a:b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as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little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as</a:t>
            </a:r>
            <a:r>
              <a:rPr lang="de-DE" dirty="0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 </a:t>
            </a:r>
            <a:r>
              <a:rPr lang="de-DE" dirty="0" err="1">
                <a:solidFill>
                  <a:schemeClr val="bg1"/>
                </a:solidFill>
                <a:latin typeface="D-DIN" charset="0"/>
                <a:ea typeface="D-DIN" charset="0"/>
                <a:cs typeface="D-DIN" charset="0"/>
              </a:rPr>
              <a:t>possible</a:t>
            </a:r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de-DE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  <a:p>
            <a:endParaRPr lang="en-US" dirty="0">
              <a:solidFill>
                <a:schemeClr val="bg1"/>
              </a:solidFill>
              <a:latin typeface="D-DIN" charset="0"/>
              <a:ea typeface="D-DIN" charset="0"/>
              <a:cs typeface="D-DI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427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107</Words>
  <Application>Microsoft Office PowerPoint</Application>
  <PresentationFormat>Custom</PresentationFormat>
  <Paragraphs>19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D-DIN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Frederike Petzschner</dc:creator>
  <cp:lastModifiedBy>MOUTHON Michael</cp:lastModifiedBy>
  <cp:revision>49</cp:revision>
  <dcterms:created xsi:type="dcterms:W3CDTF">2016-06-23T20:32:13Z</dcterms:created>
  <dcterms:modified xsi:type="dcterms:W3CDTF">2023-08-10T11:43:37Z</dcterms:modified>
</cp:coreProperties>
</file>